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00C2FF"/>
                </a:solidFill>
              </a:rPr>
              <a:t>SupplyChainOS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AI-Powered Supply Chain Resilience &amp; Digital Twin Control Tower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C3AED"/>
                </a:solidFill>
              </a:rPr>
              <a:t>IBM Bob AI Hackathon 2026  |  Problem Track L2  |  Team Incognito Agents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520440"/>
            <a:ext cx="269748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3538728"/>
            <a:ext cx="2660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Mitesh Sunil Patil (Lead)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3520440"/>
            <a:ext cx="269748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3538728"/>
            <a:ext cx="2660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Jay Shirishbhai Patel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520440"/>
            <a:ext cx="269748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3538728"/>
            <a:ext cx="2660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Nilay Rajeshbhai Patel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3520440"/>
            <a:ext cx="269748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79408" y="3538728"/>
            <a:ext cx="2660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Pratham Shaileshbhai Patel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4"/>
                </a:solidFill>
              </a:rPr>
              <a:t>Track: AI   |   CHARUSAT University   |  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86384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C3AED"/>
                </a:solidFill>
              </a:rPr>
              <a:t>Industry Problem Statement L2 — Logistics &amp; Supply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Supply chain disruptions cascade across hundreds of active shipments in ways impossible to track manually — and cold-chain cargo failures are discovered too late to prevent loss.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828800"/>
            <a:ext cx="3840480" cy="2926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828800"/>
            <a:ext cx="64008" cy="2926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" y="19202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Disruption Blindspot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" y="2286000"/>
            <a:ext cx="3639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Weather, strikes &amp; geopolitical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" y="2560320"/>
            <a:ext cx="3639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No unified view of impacted shipments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" y="2834640"/>
            <a:ext cx="3639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Manual correlation takes hours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1828800"/>
            <a:ext cx="3840480" cy="2926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828800"/>
            <a:ext cx="64008" cy="2926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5695" y="19202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Fleet Idle Waste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5" y="2286000"/>
            <a:ext cx="3639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Trucks &amp; containers sit idle unnecessarily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5" y="2560320"/>
            <a:ext cx="3639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Overloaded routes + empty corridors coexist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5" y="2834640"/>
            <a:ext cx="3639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Rerouting decisions always arrive too late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19" y="1828800"/>
            <a:ext cx="3840480" cy="2926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75319" y="1828800"/>
            <a:ext cx="64008" cy="2926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03335" y="19202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Cold-Chain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5" y="2286000"/>
            <a:ext cx="3639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$500K+ pharma / perishable cargo per shipment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5" y="2560320"/>
            <a:ext cx="3639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Temp excursions found only at 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3335" y="2834640"/>
            <a:ext cx="3639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Regulatory severity classified manually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4937760"/>
            <a:ext cx="12188952" cy="1554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029200"/>
            <a:ext cx="2651760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10235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A623"/>
                </a:solidFill>
              </a:rPr>
              <a:t>$500K+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623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AD4"/>
                </a:solidFill>
              </a:rPr>
              <a:t>Cargo value at risk / excursion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5029200"/>
            <a:ext cx="2651760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510235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A623"/>
                </a:solidFill>
              </a:rPr>
              <a:t>100s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623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AD4"/>
                </a:solidFill>
              </a:rPr>
              <a:t>Shipments per disruption event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5029200"/>
            <a:ext cx="2651760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510235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A623"/>
                </a:solidFill>
              </a:rPr>
              <a:t>Hours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623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AD4"/>
                </a:solidFill>
              </a:rPr>
              <a:t>Manual rerouting delay today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5029200"/>
            <a:ext cx="2651760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510235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A623"/>
                </a:solidFill>
              </a:rPr>
              <a:t>$10B+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5623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AD4"/>
                </a:solidFill>
              </a:rPr>
              <a:t>LA port backlog cost (2021)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Our Solution — SupplyChainOS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86384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2FF"/>
                </a:solidFill>
              </a:rPr>
              <a:t>Proactive AI Resilience Platform &amp; Digital Twin Control Tower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Detects disruptions, predicts delays, monitors cold chains, simulates alternatives, and synthesises explainable recommendations — all governed by human-in-the-loop approval.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2286000" cy="4663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920240"/>
            <a:ext cx="64008" cy="4663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116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Digital Twin Control Tower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2377440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▸  Geospatial blast-radius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2651760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▸  Real-time cascading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" y="2926080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▸  Live fleet &amp; shipment visibility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1920240"/>
            <a:ext cx="2286000" cy="4663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51760" y="1920240"/>
            <a:ext cx="64008" cy="4663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9776" y="20116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Predictive ML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9776" y="2377440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▸  Random Forest — ROC-AUC 0.84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9776" y="2651760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▸  20+ feature signals per shipment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79776" y="2926080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▸  Delay forecast before it happens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1920240"/>
            <a:ext cx="2286000" cy="4663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0" y="1920240"/>
            <a:ext cx="64008" cy="4663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7216" y="20116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What-If Simulation Studio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16" y="2377440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▸  In-memory Digital Twin 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7216" y="2651760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▸  Compare cost / ETA / risk deltas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57216" y="2926080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▸  Commit only after validation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1920240"/>
            <a:ext cx="2286000" cy="4663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06640" y="1920240"/>
            <a:ext cx="64008" cy="4663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34656" y="20116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HITL Recommendation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4656" y="2377440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▸  10 AI engines synthesise plans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34656" y="2651760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▸  Explainable reasoning per 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4656" y="2926080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▸  Immutable audit trail logging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84080" y="1920240"/>
            <a:ext cx="2194560" cy="4663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84080" y="1920240"/>
            <a:ext cx="64008" cy="4663440"/>
          </a:xfrm>
          <a:prstGeom prst="rect">
            <a:avLst/>
          </a:prstGeom>
          <a:solidFill>
            <a:srgbClr val="EC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12096" y="20116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C4E99"/>
                </a:solidFill>
              </a:rPr>
              <a:t>IBM Bob MCP Copilot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12096" y="2377440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▸  FastMCP Server — 6 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12096" y="2651760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▸  Natural-language operator interface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12096" y="2926080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▸  Approve/reject via Bob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86384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0B981"/>
                </a:solidFill>
              </a:rPr>
              <a:t>PostgreSQL -&gt; FastAPI -&gt; 10 ML Engines -&gt; FastMCP -&gt; IBM Bob -&gt; Human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210312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5544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F1E"/>
                </a:solidFill>
              </a:rPr>
              <a:t>PostgreSQL 16
Data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371600"/>
            <a:ext cx="2103120" cy="14173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5544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F1E"/>
                </a:solidFill>
              </a:rPr>
              <a:t>FastAPI
REST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1371600"/>
            <a:ext cx="210312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15544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F1E"/>
                </a:solidFill>
              </a:rPr>
              <a:t>10 ML Engines
254 Tests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1371600"/>
            <a:ext cx="2103120" cy="1417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15544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F1E"/>
                </a:solidFill>
              </a:rPr>
              <a:t>FastMCP
Server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64040" y="1371600"/>
            <a:ext cx="2103120" cy="1417320"/>
          </a:xfrm>
          <a:prstGeom prst="rect">
            <a:avLst/>
          </a:prstGeom>
          <a:solidFill>
            <a:srgbClr val="EC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15544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F1E"/>
                </a:solidFill>
              </a:rPr>
              <a:t>IBM Bob
Copilot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-&gt;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79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-&gt;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017520"/>
            <a:ext cx="5577840" cy="3474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017520"/>
            <a:ext cx="64008" cy="3474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" y="31089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Key REST Endpoints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" y="3474720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▸  /api/v1/shipments/{id}/risk         — ML risk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" y="3749040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▸  /api/v1/disruptions/{id}/impact     — blast-radius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" y="4023360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▸  /api/v1/shipments/{id}/cold-chain   — IoT anomaly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" y="4297680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▸  /api/v1/fleet/intelligence           — fleet utilisation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" y="4572000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▸  /api/v1/simulations/route           — Digital Twin sim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" y="4846320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▸  /api/v1/recommendations/{id}/approve — HITL gate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3017520"/>
            <a:ext cx="5806440" cy="3474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5040" y="3017520"/>
            <a:ext cx="64008" cy="3474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63056" y="3108960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6 IBM Bob MCP Tools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3056" y="3474720"/>
            <a:ext cx="5605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▸  get_disruption_impact_tool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63056" y="3749040"/>
            <a:ext cx="5605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▸  get_shipment_risk_tool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63056" y="4023360"/>
            <a:ext cx="5605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▸  check_cold_chain_status_tool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63056" y="4297680"/>
            <a:ext cx="5605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▸  get_fleet_recommendations_tool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3056" y="4572000"/>
            <a:ext cx="5605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▸  simulate_what_if_route_tool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63056" y="4846320"/>
            <a:ext cx="5605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▸  get_recommendation_and_approve_tool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IBM Bob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86384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C4E99"/>
                </a:solidFill>
              </a:rPr>
              <a:t>FastMCP Server — 6 Operational Tools for Conversational Supply Chain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IBM Bob is the load-bearing AI layer. Operators query SupplyChainOS in natural language — Bob calls MCP tools, synthesises results, and presents actionable plans ready for approval.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828800"/>
            <a:ext cx="11521440" cy="67665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828800"/>
            <a:ext cx="73152" cy="6766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745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get_disruption_impact_tool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2024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Identifies all shipments inside a disruption blast radius with risk-delta scoring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596896"/>
            <a:ext cx="11521440" cy="67665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596896"/>
            <a:ext cx="73152" cy="6766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642616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get_shipment_risk_tool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688336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Returns real-time Random Forest ML risk score for any shipment 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364991"/>
            <a:ext cx="11521440" cy="67665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364991"/>
            <a:ext cx="73152" cy="6766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41071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check_cold_chain_status_tool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456431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Parses IoT sensor logs — detects temp excursions, classifies FDA/WHO regulatory severity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133087"/>
            <a:ext cx="11521440" cy="67665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133087"/>
            <a:ext cx="73152" cy="67665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178807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get_fleet_recommendations_tool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224527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Surfaces idle fleet assets eligible for redeployment to overloaded corridors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901183"/>
            <a:ext cx="11521440" cy="67665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901183"/>
            <a:ext cx="73152" cy="676656"/>
          </a:xfrm>
          <a:prstGeom prst="rect">
            <a:avLst/>
          </a:prstGeom>
          <a:solidFill>
            <a:srgbClr val="EC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946903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C4E99"/>
                </a:solidFill>
              </a:rPr>
              <a:t>simulate_what_if_route_tool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992623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Runs in-memory Digital Twin for a candidate route — returns cost, ETA and risk delta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669280"/>
            <a:ext cx="11521440" cy="67665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5669280"/>
            <a:ext cx="73152" cy="67665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7150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get_recommendation_and_approve_tool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76072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Fetches AI recommendation and submits human approve/reject decision to audit trail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10 Intelligence Engines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86384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C3AED"/>
                </a:solidFill>
              </a:rPr>
              <a:t>254 Passing Unit Tests   |   All Engines Complete &amp; Verified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393192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73152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DisruptionImpactEngine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105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25 tests passed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267712"/>
            <a:ext cx="393192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267712"/>
            <a:ext cx="73152" cy="7315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13432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ShipmentRiskEngine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609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37 tests passed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118104"/>
            <a:ext cx="393192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118104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63824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PredictiveRiskEngine (RF)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112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ROC-AUC 0.84 | 19 tests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968496"/>
            <a:ext cx="393192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968496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14216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ColdChainAnomalyEngine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616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31 tests passed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818888"/>
            <a:ext cx="393192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818888"/>
            <a:ext cx="73152" cy="7315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864608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FleetIntelligenceEngine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19 tests passed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669280"/>
            <a:ext cx="393192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5669280"/>
            <a:ext cx="73152" cy="7315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715000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RouteOptimizationEngine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0624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21 tests passed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26279" y="1417320"/>
            <a:ext cx="393192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26279" y="1417320"/>
            <a:ext cx="73152" cy="7315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39" y="1463040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CarrierRecommendationEngine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39" y="18105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23 tests passed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26279" y="2267712"/>
            <a:ext cx="393192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26279" y="2267712"/>
            <a:ext cx="73152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39" y="2313432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CascadingImpactEngine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39" y="26609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17 tests passed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26279" y="3118104"/>
            <a:ext cx="393192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26279" y="3118104"/>
            <a:ext cx="73152" cy="731520"/>
          </a:xfrm>
          <a:prstGeom prst="rect">
            <a:avLst/>
          </a:prstGeom>
          <a:solidFill>
            <a:srgbClr val="EC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39" y="3163824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C4E99"/>
                </a:solidFill>
              </a:rPr>
              <a:t>DigitalTwinEngine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39" y="35112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26 tests passed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26279" y="3968496"/>
            <a:ext cx="393192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26279" y="3968496"/>
            <a:ext cx="73152" cy="7315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63439" y="4014216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BusinessImpactEngine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39" y="43616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20 tests passed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26279" y="4818888"/>
            <a:ext cx="393192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26279" y="4818888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63439" y="4864608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RecommendationEngine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39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4"/>
                </a:solidFill>
              </a:rPr>
              <a:t>41 tests passed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03920" y="5212080"/>
            <a:ext cx="3383280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03920" y="52578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A0F1E"/>
                </a:solidFill>
              </a:rPr>
              <a:t>254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5989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F1E"/>
                </a:solidFill>
              </a:rPr>
              <a:t>Total Tests Passed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86384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2FF"/>
                </a:solidFill>
              </a:rPr>
              <a:t>Languages | Frameworks | IBM Technologies | Infrastructure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2377440" cy="5212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64008" cy="52120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" y="14630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Languages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182880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Python 3.11+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" y="210312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" y="237744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" y="265176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JavaScript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1371600"/>
            <a:ext cx="2377440" cy="5212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88920" y="1371600"/>
            <a:ext cx="64008" cy="5212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16936" y="14630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Frameworks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6936" y="182880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FastAPI 0.115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6936" y="210312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Next.js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16936" y="237744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React 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6936" y="265176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SQLAlchemy 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6936" y="292608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scikit-learn 1.5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16936" y="320040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Pydantic v2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7800" y="1371600"/>
            <a:ext cx="2697480" cy="5212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57800" y="1371600"/>
            <a:ext cx="64008" cy="52120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85816" y="146304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IBM Technologies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85816" y="1828800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IBM Bob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85816" y="2103120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FastMCP (Model Context Protocol)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1371600"/>
            <a:ext cx="1874519" cy="5212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1371600"/>
            <a:ext cx="64008" cy="5212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6" y="1463040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Databases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736" y="1828800"/>
            <a:ext cx="167335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PostgreSQL 16 (asyncpg)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4736" y="2103120"/>
            <a:ext cx="167335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Async SQLite (tests)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12680" y="1371600"/>
            <a:ext cx="2011680" cy="5212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12680" y="1371600"/>
            <a:ext cx="64008" cy="5212080"/>
          </a:xfrm>
          <a:prstGeom prst="rect">
            <a:avLst/>
          </a:prstGeom>
          <a:solidFill>
            <a:srgbClr val="EC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40696" y="14630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C4E99"/>
                </a:solidFill>
              </a:rPr>
              <a:t>Infrastructure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0696" y="1828800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Docker &amp; Docker Compose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0696" y="2103120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pytest / Alembic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0696" y="2377440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joblib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0696" y="2651760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Lucide Icons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Demo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86384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0B981"/>
                </a:solidFill>
              </a:rPr>
              <a:t>From Disruption Event to Approved Action in Seconds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11521440" cy="7680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475488" cy="7680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71600"/>
            <a:ext cx="47548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F1E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Disruption Detected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444752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Typhoon hits South China Sea corridor — SupplyChainOS computes blast-radius across all active shipments instantly.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258568"/>
            <a:ext cx="11521440" cy="7680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258568"/>
            <a:ext cx="475488" cy="76809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258568"/>
            <a:ext cx="47548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F1E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042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Risk Scored by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331720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PredictiveRiskEngine (ROC-AUC 0.84) scores each affected shipment. High-risk cold-chain cargo flagged first.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145536"/>
            <a:ext cx="11521440" cy="7680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145536"/>
            <a:ext cx="475488" cy="7680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145536"/>
            <a:ext cx="47548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F1E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19125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Cold-Chain 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218688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ColdChainAnomalyEngine detects a 4C excursion in vaccine shipment SHP-042 — severity: CRITICAL (FDA CFR 21).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032504"/>
            <a:ext cx="11521440" cy="7680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032504"/>
            <a:ext cx="475488" cy="76809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032504"/>
            <a:ext cx="47548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F1E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07822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What-If Simulation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105656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Bob: "Simulate rerouting SHP-042 via Singapore rail." DigitalTwinEngine: -18% cost, +6h ETA, risk down 40%.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919472"/>
            <a:ext cx="11521440" cy="7680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919472"/>
            <a:ext cx="475488" cy="768096"/>
          </a:xfrm>
          <a:prstGeom prst="rect">
            <a:avLst/>
          </a:prstGeom>
          <a:solidFill>
            <a:srgbClr val="EC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4919472"/>
            <a:ext cx="47548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F1E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96519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E99"/>
                </a:solidFill>
              </a:rPr>
              <a:t>AI Recommendation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992624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RecommendationEngine: Approve reroute for SHP-042 and redeploy idle container CTN-17 to overloaded corridor B.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806440"/>
            <a:ext cx="11521440" cy="7680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5806440"/>
            <a:ext cx="475488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5806440"/>
            <a:ext cx="47548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F1E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8521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Human Approves via Bob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879592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Operator types "Approve." Bob calls get_recommendation_and_approve_tool — logged to immutable audit trail.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Business Impact &amp;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86384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A623"/>
                </a:solidFill>
              </a:rPr>
              <a:t>Why SupplyChainOS Changes the Game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566160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C3AED"/>
                </a:solidFill>
              </a:rPr>
              <a:t>ROC-AUC 0.84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AD4"/>
                </a:solidFill>
              </a:rPr>
              <a:t>ML model 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566160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444752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</a:rPr>
              <a:t>254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9659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AD4"/>
                </a:solidFill>
              </a:rPr>
              <a:t>Unit tests passing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371600"/>
            <a:ext cx="3566160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44752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A623"/>
                </a:solidFill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659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AD4"/>
                </a:solidFill>
              </a:rPr>
              <a:t>IBM Bob MCP tools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80360"/>
            <a:ext cx="3566160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53512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C2FF"/>
                </a:solidFill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AD4"/>
                </a:solidFill>
              </a:rPr>
              <a:t>AI engines complete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880360"/>
            <a:ext cx="3566160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953512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F4444"/>
                </a:solidFill>
              </a:rPr>
              <a:t>$500K+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4747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AD4"/>
                </a:solidFill>
              </a:rPr>
              <a:t>Cargo risk prevented per event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2880360"/>
            <a:ext cx="3566160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953512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C4E99"/>
                </a:solidFill>
              </a:rPr>
              <a:t>&lt;60s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4747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AD4"/>
                </a:solidFill>
              </a:rPr>
              <a:t>Disruption to approved action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26280"/>
            <a:ext cx="11247120" cy="1920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526280"/>
            <a:ext cx="64008" cy="1920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" y="461772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Beyond the Hackathon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4983480"/>
            <a:ext cx="11045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Direct MQTT ingestion from hardware cold-chain sensors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" y="5257800"/>
            <a:ext cx="11045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Multi-tenant SaaS with role-based approval workflows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" y="5532120"/>
            <a:ext cx="11045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ERP / WMS / TMS integration via MCP connectors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" y="5806440"/>
            <a:ext cx="11045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Real-time geospatial streaming (Kafka + PostGIS)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" y="6080760"/>
            <a:ext cx="11045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4"/>
                </a:solidFill>
              </a:rPr>
              <a:t>▸  IBM watsonx.ai LLM upgrade for deeper NL reasoning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2FF"/>
                </a:solidFill>
              </a:rPr>
              <a:t>What We Are Most Proud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The seamless integration between 10 intelligence engines, the FastMCP IBM Bob copilot, and the Next.js 14 Control Tower — enabling operators to prevent hundreds of thousands of dollars in spoiled pharma cargo with fully explainable, auditable, human-gated AI.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2697480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2697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F1E"/>
                </a:solidFill>
              </a:rPr>
              <a:t>10 Engines
+ 254 Tests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514600"/>
            <a:ext cx="2697480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2651760"/>
            <a:ext cx="2697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F1E"/>
                </a:solidFill>
              </a:rPr>
              <a:t>FastMCP
IBM Bob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514600"/>
            <a:ext cx="2697480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651760"/>
            <a:ext cx="2697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F1E"/>
                </a:solidFill>
              </a:rPr>
              <a:t>HITL
Governance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2514600"/>
            <a:ext cx="2697480" cy="13716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2651760"/>
            <a:ext cx="2697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F1E"/>
                </a:solidFill>
              </a:rPr>
              <a:t>Next.js 14
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416052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516636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AD4"/>
                </a:solidFill>
              </a:rPr>
              <a:t>Team Incognito Agents  |  IBM Bob AI Hackathon 2026  |  CHARUSAT University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56235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C2FF"/>
                </a:solidFill>
              </a:rPr>
              <a:t>github.com/Pratham-Patel1/bob-ai-hackathon-incognito-agents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